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México</c:v>
                  </c:pt>
                  <c:pt idx="1">
                    <c:v>Colômbia</c:v>
                  </c:pt>
                  <c:pt idx="2">
                    <c:v>Argentina</c:v>
                  </c:pt>
                  <c:pt idx="3">
                    <c:v>Brasil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25.3</c:v>
                </c:pt>
                <c:pt idx="1">
                  <c:v>25.2</c:v>
                </c:pt>
                <c:pt idx="2">
                  <c:v>24.8</c:v>
                </c:pt>
                <c:pt idx="3">
                  <c:v>24.7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18 - 24</c:v>
                  </c:pt>
                  <c:pt idx="1">
                    <c:v>25 - 29</c:v>
                  </c:pt>
                  <c:pt idx="2">
                    <c:v>30 - 34</c:v>
                  </c:pt>
                  <c:pt idx="3">
                    <c:v>35 - 44</c:v>
                  </c:pt>
                  <c:pt idx="4">
                    <c:v>45 - 59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28.5</c:v>
                </c:pt>
                <c:pt idx="1">
                  <c:v>27.9</c:v>
                </c:pt>
                <c:pt idx="2">
                  <c:v>21.9</c:v>
                </c:pt>
                <c:pt idx="3">
                  <c:v>19.6</c:v>
                </c:pt>
                <c:pt idx="4">
                  <c:v>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Classe C</c:v>
                  </c:pt>
                  <c:pt idx="1">
                    <c:v>Classe D</c:v>
                  </c:pt>
                  <c:pt idx="2">
                    <c:v>Classe B</c:v>
                  </c:pt>
                  <c:pt idx="3">
                    <c:v>Classe 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49.8</c:v>
                </c:pt>
                <c:pt idx="1">
                  <c:v>23</c:v>
                </c:pt>
                <c:pt idx="2">
                  <c:v>18.2</c:v>
                </c:pt>
                <c:pt idx="3">
                  <c:v>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Não trabalha / do lar</c:v>
                  </c:pt>
                  <c:pt idx="1">
                    <c:v>Trabalho integral</c:v>
                  </c:pt>
                  <c:pt idx="2">
                    <c:v>Trabalho parcial</c:v>
                  </c:pt>
                  <c:pt idx="3">
                    <c:v>Desempregada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57.3</c:v>
                </c:pt>
                <c:pt idx="1">
                  <c:v>23.4</c:v>
                </c:pt>
                <c:pt idx="2">
                  <c:v>14.6</c:v>
                </c:pt>
                <c:pt idx="3">
                  <c:v>2.3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Huggies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Q.18A</c:v>
                  </c:pt>
                  <c:pt idx="1">
                    <c:v>Q.18B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5.63</c:v>
                </c:pt>
                <c:pt idx="1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Johnson's Baby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Q.18A</c:v>
                  </c:pt>
                  <c:pt idx="1">
                    <c:v>Q.18B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6.37</c:v>
                </c:pt>
                <c:pt idx="1">
                  <c:v>6.17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1B24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Huggies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Nunca ouviu falar</c:v>
                  </c:pt>
                  <c:pt idx="1">
                    <c:v>Não consideraria</c:v>
                  </c:pt>
                  <c:pt idx="2">
                    <c:v>Só compraria em oferta</c:v>
                  </c:pt>
                  <c:pt idx="3">
                    <c:v>Compra só para variar</c:v>
                  </c:pt>
                  <c:pt idx="4">
                    <c:v>Só p/ ocasião especial</c:v>
                  </c:pt>
                  <c:pt idx="5">
                    <c:v>Uma das que uso normalmente</c:v>
                  </c:pt>
                  <c:pt idx="6">
                    <c:v>É minha primeira escolha</c:v>
                  </c:pt>
                  <c:pt idx="7">
                    <c:v>É a única que consideraria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10.9</c:v>
                </c:pt>
                <c:pt idx="1">
                  <c:v>8.2</c:v>
                </c:pt>
                <c:pt idx="2">
                  <c:v>5.8</c:v>
                </c:pt>
                <c:pt idx="3">
                  <c:v>11.4</c:v>
                </c:pt>
                <c:pt idx="4">
                  <c:v>14</c:v>
                </c:pt>
                <c:pt idx="5">
                  <c:v>28.4</c:v>
                </c:pt>
                <c:pt idx="6">
                  <c:v>9</c:v>
                </c:pt>
                <c:pt idx="7">
                  <c:v>12.3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Johnson's Baby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Nunca ouviu falar</c:v>
                  </c:pt>
                  <c:pt idx="1">
                    <c:v>Não consideraria</c:v>
                  </c:pt>
                  <c:pt idx="2">
                    <c:v>Só compraria em oferta</c:v>
                  </c:pt>
                  <c:pt idx="3">
                    <c:v>Compra só para variar</c:v>
                  </c:pt>
                  <c:pt idx="4">
                    <c:v>Só p/ ocasião especial</c:v>
                  </c:pt>
                  <c:pt idx="5">
                    <c:v>Uma das que uso normalmente</c:v>
                  </c:pt>
                  <c:pt idx="6">
                    <c:v>É minha primeira escolha</c:v>
                  </c:pt>
                  <c:pt idx="7">
                    <c:v>É a única que consideraria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</c:v>
                </c:pt>
                <c:pt idx="1">
                  <c:v>1</c:v>
                </c:pt>
                <c:pt idx="2">
                  <c:v>2.1</c:v>
                </c:pt>
                <c:pt idx="3">
                  <c:v>5.1</c:v>
                </c:pt>
                <c:pt idx="4">
                  <c:v>7.3</c:v>
                </c:pt>
                <c:pt idx="5">
                  <c:v>36.5</c:v>
                </c:pt>
                <c:pt idx="6">
                  <c:v>18.4</c:v>
                </c:pt>
                <c:pt idx="7">
                  <c:v>29.3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-1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1B24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Considera várias marcas, a qualquer preço</c:v>
                  </c:pt>
                  <c:pt idx="1">
                    <c:v>Preferência de marca definida</c:v>
                  </c:pt>
                  <c:pt idx="2">
                    <c:v>Considera várias marcas e escolhe a de melhor custo-benefício</c:v>
                  </c:pt>
                  <c:pt idx="3">
                    <c:v>Decide sempre pelo melhor preço</c:v>
                  </c:pt>
                  <c:pt idx="4">
                    <c:v>Considera apenas uma única marca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54.6</c:v>
                </c:pt>
                <c:pt idx="1">
                  <c:v>21.6</c:v>
                </c:pt>
                <c:pt idx="2">
                  <c:v>20.1</c:v>
                </c:pt>
                <c:pt idx="3">
                  <c:v>3.2</c:v>
                </c:pt>
                <c:pt idx="4">
                  <c:v>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amostra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&lt; US$5</c:v>
                  </c:pt>
                  <c:pt idx="1">
                    <c:v>US$5-11</c:v>
                  </c:pt>
                  <c:pt idx="2">
                    <c:v>US$11-16</c:v>
                  </c:pt>
                  <c:pt idx="3">
                    <c:v>US$16-21</c:v>
                  </c:pt>
                  <c:pt idx="4">
                    <c:v>US$21-26</c:v>
                  </c:pt>
                  <c:pt idx="5">
                    <c:v>US$26-31</c:v>
                  </c:pt>
                  <c:pt idx="6">
                    <c:v>US$31-41</c:v>
                  </c:pt>
                  <c:pt idx="7">
                    <c:v>US$41-51</c:v>
                  </c:pt>
                  <c:pt idx="8">
                    <c:v>US$51-76</c:v>
                  </c:pt>
                  <c:pt idx="9">
                    <c:v>US$76+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</c:v>
                </c:pt>
                <c:pt idx="1">
                  <c:v>12.8</c:v>
                </c:pt>
                <c:pt idx="2">
                  <c:v>6.7</c:v>
                </c:pt>
                <c:pt idx="3">
                  <c:v>19.1</c:v>
                </c:pt>
                <c:pt idx="4">
                  <c:v>5.1</c:v>
                </c:pt>
                <c:pt idx="5">
                  <c:v>16.2</c:v>
                </c:pt>
                <c:pt idx="6">
                  <c:v>13.4</c:v>
                </c:pt>
                <c:pt idx="7">
                  <c:v>17.2</c:v>
                </c:pt>
                <c:pt idx="8">
                  <c:v>5.9</c:v>
                </c:pt>
                <c:pt idx="9">
                  <c:v>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1B24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Sempre busca os produtos mais puros, suaves e delicados para o(a) filho(a)</c:v>
                  </c:pt>
                  <c:pt idx="1">
                    <c:v>Busca produtos com comprovação clínica</c:v>
                  </c:pt>
                  <c:pt idx="2">
                    <c:v>Prefere produtos com ingredientes naturais</c:v>
                  </c:pt>
                  <c:pt idx="3">
                    <c:v>Busca tratamentos comprovadamente eficazes e de ação rápida</c:v>
                  </c:pt>
                  <c:pt idx="4">
                    <c:v>Acredita que produtos infantis devem ter um perfume agradável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4.52</c:v>
                </c:pt>
                <c:pt idx="1">
                  <c:v>4.35</c:v>
                </c:pt>
                <c:pt idx="2">
                  <c:v>4.29</c:v>
                </c:pt>
                <c:pt idx="3">
                  <c:v>4.29</c:v>
                </c:pt>
                <c:pt idx="4">
                  <c:v>4.29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3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Pediatra</c:v>
                  </c:pt>
                  <c:pt idx="1">
                    <c:v>Mãe da respondente</c:v>
                  </c:pt>
                  <c:pt idx="2">
                    <c:v>Dermatologista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</c:v>
                </c:pt>
                <c:pt idx="1">
                  <c:v>3.93</c:v>
                </c:pt>
                <c:pt idx="2">
                  <c:v>3.86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3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Redes sociais</c:v>
                  </c:pt>
                  <c:pt idx="1">
                    <c:v>E-mail</c:v>
                  </c:pt>
                  <c:pt idx="2">
                    <c:v>Download de músicas</c:v>
                  </c:pt>
                  <c:pt idx="3">
                    <c:v>Assiste a vídeos</c:v>
                  </c:pt>
                  <c:pt idx="4">
                    <c:v>Pesquisa assuntos vistos na TV/revista</c:v>
                  </c:pt>
                  <c:pt idx="5">
                    <c:v>Lê notícias online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39.8</c:v>
                </c:pt>
                <c:pt idx="1">
                  <c:v>29.7</c:v>
                </c:pt>
                <c:pt idx="2">
                  <c:v>15.8</c:v>
                </c:pt>
                <c:pt idx="3">
                  <c:v>14.1</c:v>
                </c:pt>
                <c:pt idx="4">
                  <c:v>12.1</c:v>
                </c:pt>
                <c:pt idx="5">
                  <c:v>10.4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Ligar para amigos e família</c:v>
                  </c:pt>
                  <c:pt idx="1">
                    <c:v>Enviar/receber mensagens</c:v>
                  </c:pt>
                  <c:pt idx="2">
                    <c:v>Tirar fotos</c:v>
                  </c:pt>
                  <c:pt idx="3">
                    <c:v>Ouvir música</c:v>
                  </c:pt>
                  <c:pt idx="4">
                    <c:v>Ligar para colegas de trabalho</c:v>
                  </c:pt>
                  <c:pt idx="5">
                    <c:v>Participar de promoções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91.1</c:v>
                </c:pt>
                <c:pt idx="1">
                  <c:v>68.7</c:v>
                </c:pt>
                <c:pt idx="2">
                  <c:v>41.3</c:v>
                </c:pt>
                <c:pt idx="3">
                  <c:v>29.9</c:v>
                </c:pt>
                <c:pt idx="4">
                  <c:v>24.4</c:v>
                </c:pt>
                <c:pt idx="5">
                  <c:v>8.3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1631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4023360" cy="4023360"/>
          </a:xfrm>
          <a:prstGeom prst="ellipse">
            <a:avLst/>
          </a:prstGeom>
          <a:solidFill>
            <a:srgbClr val="2A78D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EB6834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 ·  ESTUDO DE MERCADO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Mães &amp; Bebês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Hábitos &amp; Atitudes — Cuidados com Bebê &amp; Criança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 frente à concorrência: perfil da amostra, funil de marca e principais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de atitude em 4 países da América Latina.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507492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51480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3.704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1792" y="550468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71800" y="507492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51480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136392" y="550468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0" y="507492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51480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SPSS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50992" y="550468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original, com dicionário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 ·  Brasil  ·  Colômbia  ·  México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encontrar neste relatório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2194560"/>
            <a:ext cx="566928" cy="566928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75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&amp; fonte de dados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468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SPSS original, dicionário completo de rótulos, 4 países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53912" y="192024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2194560"/>
            <a:ext cx="566928" cy="566928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59752" y="2075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amostra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59752" y="2468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 as 3.704 respondentes, país a país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" y="3584448"/>
            <a:ext cx="566928" cy="566928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584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465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de marca Johnson's Baby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858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reconhecimento espontâneo à recomendação do pediatra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3912" y="3310128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584448"/>
            <a:ext cx="566928" cy="566928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584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59752" y="3465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 vs. Huggies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59752" y="3858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direto de valor, familiaridade, funil e lealdade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00016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" y="4974336"/>
            <a:ext cx="566928" cy="566928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974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4855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compra &amp; gasto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2486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 de decisão (Q.6) e faixas de gasto mensal (Q.7)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53912" y="4700016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4974336"/>
            <a:ext cx="566928" cy="566928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4974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59752" y="4855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Atitudes, confiança &amp; mídia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59752" y="52486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as mães valorizam, em quem confiam e como se informam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&amp; fonte de dados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versão do relatório foi reconstruída a partir da base original — não há mais rótulos estimados.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8541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SPSS original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3136392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110395_JJ_Maes_Bebes_Base_v7_TOTAL.sav, lida via haven, com o dicionário completo de rótulos de variável e de valor gravado no próprio arquivo. Nenhum rótulo deste relatório foi inferido ou estimado manualmente.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4160520" y="196596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18541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185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amostra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3.704 respondentes, 4 países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389120" y="3136392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Argentina, Brasil, Colômbia e México — não "praças" dentro do Brasil, como constava em uma versão anterior deste relatório. As bases nacionais são equilibradas, entre 911 e 931 casos por país.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863840" y="196596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218541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2185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9244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relidas do zero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92440" y="3136392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Q.6 é uma tipologia de decisão de compra; Q.7 é gasto mensal em faixas de US$; Q.51 é a recomendação do PEDIATRA (não "indicaria a uma amiga"); Q.52/54/55 são fontes de informação e uso de mídia. O funil de marca tem 6 estágios distintos.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457200" y="52578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qualidade de dado: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rótulo de valor da base original (categoria de tipologia de compra) está truncado no próprio arquivo .sav de origem. Quando exibido neste relatório, ele é parafraseado de forma fiel ao seu sentido ("Considera várias marcas e escolhe a de melhor custo-benefício"), sem acrescentar informação não presente na base.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AMOSTRA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são as respondentes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 da base completa (n = 3.704), com amostra equilibrada entre os 4 países.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984248"/>
            <a:ext cx="2313432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3.704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3504" y="272491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 na base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82696" y="1874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984248"/>
            <a:ext cx="2313432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29,1 anos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29000" y="272491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 da mãe/responsável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08192" y="1874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4496" y="1984248"/>
            <a:ext cx="2313432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16,8%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54496" y="272491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Filho(a) com alguma alergia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33688" y="1874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79992" y="1984248"/>
            <a:ext cx="2313432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US$ 30,9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079992" y="272491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médio mensal com produtos infantis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 amostra por país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74320" y="3730752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6309360" y="3429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etária da mãe/responsável</a:t>
            </a:r>
            <a:endParaRPr lang="en-US" sz="1300" dirty="0"/>
          </a:p>
        </p:txBody>
      </p:sp>
      <p:graphicFrame>
        <p:nvGraphicFramePr>
          <p:cNvPr id="20" name="Chart 1" descr=""/>
          <p:cNvGraphicFramePr/>
          <p:nvPr/>
        </p:nvGraphicFramePr>
        <p:xfrm>
          <a:off x="6126480" y="3730752"/>
          <a:ext cx="5577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7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AMOSTRA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comparativo por país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classe social, alergia e gasto variam de forma expressiva entre os 4 mercados.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5394960" cy="1828800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 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A/B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Alergia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médio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30,4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US$ 32,6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28,5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US$ 31,7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Colômbia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28,6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México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US$ 19,8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31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social (amostra total)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4206240"/>
          <a:ext cx="54864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6400800" y="1874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trabalho (top 4)</a:t>
            </a:r>
            <a:endParaRPr lang="en-US" sz="12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17920" y="2148840"/>
          <a:ext cx="5394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5"/>
          <p:cNvSpPr/>
          <p:nvPr/>
        </p:nvSpPr>
        <p:spPr>
          <a:xfrm>
            <a:off x="6217920" y="42062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314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6446520" y="43708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retrato que muda de país para país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446520" y="4736592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70" b="1" dirty="0">
                <a:solidFill>
                  <a:srgbClr val="E8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</a:t>
            </a:r>
            <a:pPr indent="0" marL="0">
              <a:lnSpc>
                <a:spcPct val="128000"/>
              </a:lnSpc>
              <a:buNone/>
            </a:pPr>
            <a:r>
              <a:rPr lang="en-US" sz="10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a maior fatia de classe A/B (37,1%), mas o menor gasto médio (US$ 19,8) e a menor incidência de alergia (3,8%). </a:t>
            </a:r>
            <a:pPr indent="0" marL="0">
              <a:lnSpc>
                <a:spcPct val="128000"/>
              </a:lnSpc>
              <a:buNone/>
            </a:pPr>
            <a:r>
              <a:rPr lang="en-US" sz="107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Colômbia </a:t>
            </a:r>
            <a:pPr indent="0" marL="0">
              <a:lnSpc>
                <a:spcPct val="128000"/>
              </a:lnSpc>
              <a:buNone/>
            </a:pPr>
            <a:r>
              <a:rPr lang="en-US" sz="10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o maior gasto médio (US$ 40,1) mesmo com a menor fatia A/B (14,9%). </a:t>
            </a:r>
            <a:pPr indent="0" marL="0">
              <a:lnSpc>
                <a:spcPct val="128000"/>
              </a:lnSpc>
              <a:buNone/>
            </a:pPr>
            <a:r>
              <a:rPr lang="en-US" sz="107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</a:t>
            </a:r>
            <a:pPr indent="0" marL="0">
              <a:lnSpc>
                <a:spcPct val="128000"/>
              </a:lnSpc>
              <a:buNone/>
            </a:pPr>
            <a:r>
              <a:rPr lang="en-US" sz="10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a maior incidência de alergia (28,2%).</a:t>
            </a:r>
            <a:endParaRPr lang="en-US" sz="1070" dirty="0"/>
          </a:p>
        </p:txBody>
      </p:sp>
      <p:sp>
        <p:nvSpPr>
          <p:cNvPr id="13" name="Text 8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DE MARCA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Johnson's Baby — do reconhecimento à recomendação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estágios distintos, cada um medido por uma pergunta própria do questionário (não é uma sequência cumulativa).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202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mind — lembrança espontânea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18541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be8_1  ·  Q.8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2020824"/>
            <a:ext cx="5943600" cy="310896"/>
          </a:xfrm>
          <a:prstGeom prst="roundRect">
            <a:avLst>
              <a:gd name="adj" fmla="val 14706"/>
            </a:avLst>
          </a:prstGeom>
          <a:solidFill>
            <a:srgbClr val="E9EEF6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2020824"/>
            <a:ext cx="3645408" cy="310896"/>
          </a:xfrm>
          <a:prstGeom prst="roundRect">
            <a:avLst>
              <a:gd name="adj" fmla="val 14706"/>
            </a:avLst>
          </a:prstGeom>
          <a:solidFill>
            <a:srgbClr val="2A78D6"/>
          </a:solidFill>
          <a:ln/>
        </p:spPr>
      </p:sp>
      <p:sp>
        <p:nvSpPr>
          <p:cNvPr id="11" name="Text 9"/>
          <p:cNvSpPr/>
          <p:nvPr/>
        </p:nvSpPr>
        <p:spPr>
          <a:xfrm>
            <a:off x="10927080" y="194767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36,8%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5786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mais conhecida (espontânea + estimulada)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84378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mspop_1  ·  Q.24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679192"/>
            <a:ext cx="5943600" cy="310896"/>
          </a:xfrm>
          <a:prstGeom prst="roundRect">
            <a:avLst>
              <a:gd name="adj" fmla="val 14706"/>
            </a:avLst>
          </a:prstGeom>
          <a:solidFill>
            <a:srgbClr val="E9EE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2679192"/>
            <a:ext cx="5517642" cy="310896"/>
          </a:xfrm>
          <a:prstGeom prst="roundRect">
            <a:avLst>
              <a:gd name="adj" fmla="val 14706"/>
            </a:avLst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7080" y="260604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55,7%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32369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a melhor marca para bebês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5021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be16a  ·  Q.16A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3337560"/>
            <a:ext cx="5943600" cy="310896"/>
          </a:xfrm>
          <a:prstGeom prst="roundRect">
            <a:avLst>
              <a:gd name="adj" fmla="val 14706"/>
            </a:avLst>
          </a:prstGeom>
          <a:solidFill>
            <a:srgbClr val="E9EE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3337560"/>
            <a:ext cx="4328922" cy="310896"/>
          </a:xfrm>
          <a:prstGeom prst="roundRect">
            <a:avLst>
              <a:gd name="adj" fmla="val 14706"/>
            </a:avLst>
          </a:prstGeom>
          <a:solidFill>
            <a:srgbClr val="2A78D6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7080" y="326440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43,7%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3986784"/>
            <a:ext cx="457200" cy="457200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38953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favorita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41605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be15  ·  Q.15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3995928"/>
            <a:ext cx="5943600" cy="310896"/>
          </a:xfrm>
          <a:prstGeom prst="roundRect">
            <a:avLst>
              <a:gd name="adj" fmla="val 14706"/>
            </a:avLst>
          </a:prstGeom>
          <a:solidFill>
            <a:srgbClr val="E9EEF6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3995928"/>
            <a:ext cx="3843528" cy="310896"/>
          </a:xfrm>
          <a:prstGeom prst="roundRect">
            <a:avLst>
              <a:gd name="adj" fmla="val 14706"/>
            </a:avLst>
          </a:prstGeom>
          <a:solidFill>
            <a:srgbClr val="2A78D6"/>
          </a:solidFill>
          <a:ln/>
        </p:spPr>
      </p:sp>
      <p:sp>
        <p:nvSpPr>
          <p:cNvPr id="32" name="Text 30"/>
          <p:cNvSpPr/>
          <p:nvPr/>
        </p:nvSpPr>
        <p:spPr>
          <a:xfrm>
            <a:off x="10927080" y="39227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38,8%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457200" cy="457200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51560" y="45537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com mais frequência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481888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be14  ·  Q.14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37760" y="4654296"/>
            <a:ext cx="5943600" cy="310896"/>
          </a:xfrm>
          <a:prstGeom prst="roundRect">
            <a:avLst>
              <a:gd name="adj" fmla="val 14706"/>
            </a:avLst>
          </a:prstGeom>
          <a:solidFill>
            <a:srgbClr val="E9EEF6"/>
          </a:solidFill>
          <a:ln/>
        </p:spPr>
      </p:sp>
      <p:sp>
        <p:nvSpPr>
          <p:cNvPr id="38" name="Shape 36"/>
          <p:cNvSpPr/>
          <p:nvPr/>
        </p:nvSpPr>
        <p:spPr>
          <a:xfrm>
            <a:off x="4937760" y="4654296"/>
            <a:ext cx="2981706" cy="310896"/>
          </a:xfrm>
          <a:prstGeom prst="roundRect">
            <a:avLst>
              <a:gd name="adj" fmla="val 14706"/>
            </a:avLst>
          </a:prstGeom>
          <a:solidFill>
            <a:srgbClr val="2A78D6"/>
          </a:solidFill>
          <a:ln/>
        </p:spPr>
      </p:sp>
      <p:sp>
        <p:nvSpPr>
          <p:cNvPr id="39" name="Text 37"/>
          <p:cNvSpPr/>
          <p:nvPr/>
        </p:nvSpPr>
        <p:spPr>
          <a:xfrm>
            <a:off x="10927080" y="458114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30,1%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7200" y="5303520"/>
            <a:ext cx="457200" cy="457200"/>
          </a:xfrm>
          <a:prstGeom prst="ellipse">
            <a:avLst/>
          </a:prstGeom>
          <a:solidFill>
            <a:srgbClr val="E9F0F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51560" y="5212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Pediatra recomenda a marca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51560" y="547725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q51_recom  ·  Q.51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37760" y="5312664"/>
            <a:ext cx="5943600" cy="310896"/>
          </a:xfrm>
          <a:prstGeom prst="roundRect">
            <a:avLst>
              <a:gd name="adj" fmla="val 14706"/>
            </a:avLst>
          </a:prstGeom>
          <a:solidFill>
            <a:srgbClr val="E9EEF6"/>
          </a:solidFill>
          <a:ln/>
        </p:spPr>
      </p:sp>
      <p:sp>
        <p:nvSpPr>
          <p:cNvPr id="45" name="Shape 43"/>
          <p:cNvSpPr/>
          <p:nvPr/>
        </p:nvSpPr>
        <p:spPr>
          <a:xfrm>
            <a:off x="4937760" y="5312664"/>
            <a:ext cx="2516124" cy="310896"/>
          </a:xfrm>
          <a:prstGeom prst="roundRect">
            <a:avLst>
              <a:gd name="adj" fmla="val 14706"/>
            </a:avLst>
          </a:prstGeom>
          <a:solidFill>
            <a:srgbClr val="2A78D6"/>
          </a:solidFill>
          <a:ln/>
        </p:spPr>
      </p:sp>
      <p:sp>
        <p:nvSpPr>
          <p:cNvPr id="46" name="Text 44"/>
          <p:cNvSpPr/>
          <p:nvPr/>
        </p:nvSpPr>
        <p:spPr>
          <a:xfrm>
            <a:off x="10927080" y="523951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25,4%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DE MARCA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Johnson's Baby — o funil varia muito por país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respondentes em cada estágio do funil, por país.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1920240"/>
        </p:xfrm>
        <a:graphic>
          <a:graphicData uri="http://schemas.openxmlformats.org/drawingml/2006/table">
            <a:tbl>
              <a:tblPr/>
              <a:tblGrid>
                <a:gridCol w="1610650"/>
                <a:gridCol w="1610650"/>
                <a:gridCol w="1610650"/>
                <a:gridCol w="1610650"/>
                <a:gridCol w="1610650"/>
                <a:gridCol w="1610650"/>
                <a:gridCol w="161065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of mind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conhecida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p/ bebês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Pediatra recom.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Colômbia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México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11274552" cy="1965960"/>
          </a:xfrm>
          <a:prstGeom prst="roundRect">
            <a:avLst>
              <a:gd name="adj" fmla="val 3721"/>
            </a:avLst>
          </a:prstGeom>
          <a:solidFill>
            <a:srgbClr val="16314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43434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anomalia que merece atenção: México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4709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tem o funil mais fraco de conhecimento e preferência (mais conhecida: 20,3% vs. 71,9% na Argentina; favorita: 17,4% vs. 49,1%), </a:t>
            </a:r>
            <a:pPr indent="0" marL="0">
              <a:lnSpc>
                <a:spcPct val="130000"/>
              </a:lnSpc>
              <a:buNone/>
            </a:pPr>
            <a:r>
              <a:rPr lang="en-US" sz="113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é o país com a MAIOR taxa de recomendação do pediatra (41,2%, dobro da média dos demais países). </a:t>
            </a:r>
            <a:pPr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sugere um mercado onde a marca ainda tem baixo reconhecimento entre consumidoras, mas já goza de forte endosso médico — uma alavanca de crescimento a explorar em comunicação e distribuição.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 VS. HUGGIES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Familiaridade &amp; valor percebido pelo preço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 é mais experimentada e percebida como de melhor valor pelo preço do que a Huggies.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experimentou a marca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31720" y="2267712"/>
            <a:ext cx="2468880" cy="310896"/>
          </a:xfrm>
          <a:prstGeom prst="roundRect">
            <a:avLst>
              <a:gd name="adj" fmla="val 14706"/>
            </a:avLst>
          </a:prstGeom>
          <a:solidFill>
            <a:srgbClr val="E9EEF6"/>
          </a:solidFill>
          <a:ln/>
        </p:spPr>
      </p:sp>
      <p:sp>
        <p:nvSpPr>
          <p:cNvPr id="8" name="Shape 6"/>
          <p:cNvSpPr/>
          <p:nvPr/>
        </p:nvSpPr>
        <p:spPr>
          <a:xfrm>
            <a:off x="2331720" y="2267712"/>
            <a:ext cx="1851660" cy="310896"/>
          </a:xfrm>
          <a:prstGeom prst="roundRect">
            <a:avLst>
              <a:gd name="adj" fmla="val 14706"/>
            </a:avLst>
          </a:prstGeom>
          <a:solidFill>
            <a:srgbClr val="EB6834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21854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75,0%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31720" y="3227832"/>
            <a:ext cx="2468880" cy="310896"/>
          </a:xfrm>
          <a:prstGeom prst="roundRect">
            <a:avLst>
              <a:gd name="adj" fmla="val 14706"/>
            </a:avLst>
          </a:prstGeom>
          <a:solidFill>
            <a:srgbClr val="E9E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331720" y="3227832"/>
            <a:ext cx="2291121" cy="310896"/>
          </a:xfrm>
          <a:prstGeom prst="roundRect">
            <a:avLst>
              <a:gd name="adj" fmla="val 14706"/>
            </a:avLst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314553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92,8%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 é experimentada por 17,8 pontos percentuais a mais do que a Huggies — praticamente toda a amostra (92,8%) já usou a marca.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percebido pelo preço (escala 1–7)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126480" y="2194560"/>
          <a:ext cx="55778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 VS. HUGGIES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Funil de compra: da rejeição à marca única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respondentes em cada estágio de consideração de compra, por marca.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828800"/>
          <a:ext cx="8138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8288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6314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58200" y="2011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compra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estágios finais)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58200" y="2697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84,2%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45820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5820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49,7%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45820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58200" y="4709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 reúne 1,7× mais respondentes no núcleo duro de compra do que a Huggies.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 VS. HUGGIES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Johnson's Baby domina o comparativo direto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671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experimentou a marca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92,8%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447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8130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306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1243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54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+17,8 p.p. a favor de Johnson's Baby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9272" y="19659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02152" y="21671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duro de compra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02152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502152" y="3447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02152" y="38130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49,7%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02152" y="4306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02152" y="475488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12435F"/>
          </a:solidFill>
          <a:ln/>
        </p:spPr>
      </p:sp>
      <p:sp>
        <p:nvSpPr>
          <p:cNvPr id="19" name="Text 17"/>
          <p:cNvSpPr/>
          <p:nvPr/>
        </p:nvSpPr>
        <p:spPr>
          <a:xfrm>
            <a:off x="3502152" y="4754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+34,5 p.p. a favor de Johnson's Baby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81344" y="19659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64224" y="21671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Lealdade (top-2 box)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64224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47,7%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64224" y="3447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64224" y="38130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64224" y="4306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64224" y="475488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12435F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4754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+26,4 p.p. a favor de Johnson's Baby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43416" y="19659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26296" y="21671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pelo preço (1–7)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226296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9226296" y="3447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26296" y="38130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226296" y="4306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226296" y="475488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12435F"/>
          </a:solidFill>
          <a:ln/>
        </p:spPr>
      </p:sp>
      <p:sp>
        <p:nvSpPr>
          <p:cNvPr id="35" name="Text 33"/>
          <p:cNvSpPr/>
          <p:nvPr/>
        </p:nvSpPr>
        <p:spPr>
          <a:xfrm>
            <a:off x="9226296" y="4754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 pt a favor de Johnson's Baby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COMPRA &amp; GASTO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mães decidem — e quanto gastam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Q.6: tipologia de decisão de compra  ·  Q.7: faixa de gasto mensal com produtos infantis (US$).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 de decisão de compra (Q.6)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2103120"/>
          <a:ext cx="5577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920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médio mensal geral: US$ 30,9. Quem "considera apenas uma marca" gasta mais (US$ 36,7), embora seja um grupo pequeno.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630936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gasto mensal — US$ (Q.7)</a:t>
            </a:r>
            <a:endParaRPr lang="en-US" sz="12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126480" y="2103120"/>
          <a:ext cx="5577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126480" y="489204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126480" y="48920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médio por país varia de US$ 19,8 (México) a US$ 40,1 (Colômbia) — mais que o dobro entre os extremos.</a:t>
            </a:r>
            <a:endParaRPr lang="en-US" sz="98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ATITUDES &amp; CONFIANÇA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as mães valorizam — e em quem confiam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em escala Likert 1–5 (5 = concordo totalmente / máxima importância).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Q.27 — o que buscam nos produtos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2103120"/>
          <a:ext cx="55778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Q.52 — fontes de informação mais valorizadas</a:t>
            </a:r>
            <a:endParaRPr lang="en-US" sz="12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126480" y="2103120"/>
          <a:ext cx="55778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07492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85800" y="50749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Pediatra, dermatologista e a própria mãe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as três fontes de informação mais confiáveis para cuidados com o bebê — reforçando o valor de endosso médico já visto no funil (Q.51). No lado oposto, </a:t>
            </a:r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porta a porta, cabeleireiro e vendedores de PDV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as fontes menos confiáveis.</a:t>
            </a:r>
            <a:endParaRPr lang="en-US" sz="113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MÍDIA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mães usam internet e celular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Q.62E: atividades mais realizadas na internet  ·  Q.62J: usos mais comuns do celular (bases válidas de cada bateria).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na internet (Q.62E)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2103120"/>
          <a:ext cx="55778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usa o celular (Q.62J)</a:t>
            </a:r>
            <a:endParaRPr lang="en-US" sz="12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126480" y="2103120"/>
          <a:ext cx="55778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07492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5EE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85800" y="50749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43,2% das mães acessam a internet pelo computador de casa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forma de acesso mais citada. Redes sociais e e-mail dominam o uso da internet, enquanto o celular ainda é usado majoritariamente para ligações e mensagens — um canal de comunicação em consolidação, não o principal ponto de contato digital com a marca neste momento da base.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conclusões &amp; recomendações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2011680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56816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competitiva clara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377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Johnson's Baby supera a Huggies em familiaridade, valor percebido, núcleo de compra e lealdade — a marca vence em praticamente todas as métricas competitivas medidas.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011680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39712" y="1956816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Endosso médico é um ativo forte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55664" y="2377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25,4% das respondentes usam a marca recomendada pelo pediatra, a fonte de informação mais confiável da categoria — à frente de dermatologista e da própria mãe.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438144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México: oportunidade de conhecimento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3858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Apesar do menor funil de conhecimento e preferência, o México lidera em recomendação do pediatra (41,2%) — uma base médica forte para crescer awareness e consideração.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9632" y="331012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493008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9712" y="3438144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Pureza, comprovação clínica e ingredientes naturais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55664" y="3858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três atributos mais valorizados pelas mães na escolha de produtos (Q.27) — a base racional para a comunicação de marca.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974336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919472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mensal varia mais que 2× entre países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53400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US$ 19,8 (México) a US$ 40,1 (Colômbia) — oportunidades de precificação e portfólio precisam ser lidas país a país, não de forma regional única.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9632" y="479145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6314F"/>
          </a:solidFill>
          <a:ln w="9525">
            <a:solidFill>
              <a:srgbClr val="2C4A6B"/>
            </a:solidFill>
            <a:prstDash val="solid"/>
          </a:ln>
          <a:effectLst>
            <a:outerShdw sx="100000" sy="100000" kx="0" ky="0" algn="bl" rotWithShape="0" blurRad="76200" dist="25400" dir="5400000">
              <a:srgbClr val="0E234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974336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39712" y="4919472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 decide entre várias marcas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55664" y="53400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54,6% das mães consideram várias marcas a qualquer preço (Q.6) — a decisão de compra permanece aberta na maior parte da base, reforçando a importância do ponto de venda.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 · Mães &amp; Bebês — Hábitos &amp; Atitudes  ·  4 países  ·  n = 3.704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817352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J&amp;J Mães &amp; Bebês — Hábitos &amp; Atitudes</dc:title>
  <dc:subject>PptxGenJS Presentation</dc:subject>
  <dc:creator>Análise de dados</dc:creator>
  <cp:lastModifiedBy>Análise de dados</cp:lastModifiedBy>
  <cp:revision>1</cp:revision>
  <dcterms:created xsi:type="dcterms:W3CDTF">2026-09-03T18:23:45Z</dcterms:created>
  <dcterms:modified xsi:type="dcterms:W3CDTF">2026-09-03T18:23:45Z</dcterms:modified>
</cp:coreProperties>
</file>