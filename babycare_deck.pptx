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Classe C</c:v>
                  </c:pt>
                  <c:pt idx="1">
                    <c:v>Classe D</c:v>
                  </c:pt>
                  <c:pt idx="2">
                    <c:v>Classe B</c:v>
                  </c:pt>
                  <c:pt idx="3">
                    <c:v>Classe 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49.8</c:v>
                </c:pt>
                <c:pt idx="1">
                  <c:v>23</c:v>
                </c:pt>
                <c:pt idx="2">
                  <c:v>18.2</c:v>
                </c:pt>
                <c:pt idx="3">
                  <c:v>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FA8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Não trabalha / Dona de casa</c:v>
                  </c:pt>
                  <c:pt idx="1">
                    <c:v>Trabalha período integral</c:v>
                  </c:pt>
                  <c:pt idx="2">
                    <c:v>Trabalha meio período</c:v>
                  </c:pt>
                  <c:pt idx="3">
                    <c:v>Desempregada</c:v>
                  </c:pt>
                  <c:pt idx="4">
                    <c:v>Estuda meio período</c:v>
                  </c:pt>
                  <c:pt idx="5">
                    <c:v>Estuda período integral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57.3</c:v>
                </c:pt>
                <c:pt idx="1">
                  <c:v>23.4</c:v>
                </c:pt>
                <c:pt idx="2">
                  <c:v>14.6</c:v>
                </c:pt>
                <c:pt idx="3">
                  <c:v>2.3</c:v>
                </c:pt>
                <c:pt idx="4">
                  <c:v>1.5</c:v>
                </c:pt>
                <c:pt idx="5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18-24 anos</c:v>
                  </c:pt>
                  <c:pt idx="1">
                    <c:v>25-29 anos</c:v>
                  </c:pt>
                  <c:pt idx="2">
                    <c:v>30-34 anos</c:v>
                  </c:pt>
                  <c:pt idx="3">
                    <c:v>35-44 anos</c:v>
                  </c:pt>
                  <c:pt idx="4">
                    <c:v>45-59 anos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28.5</c:v>
                </c:pt>
                <c:pt idx="1">
                  <c:v>27.9</c:v>
                </c:pt>
                <c:pt idx="2">
                  <c:v>21.9</c:v>
                </c:pt>
                <c:pt idx="3">
                  <c:v>19.6</c:v>
                </c:pt>
                <c:pt idx="4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972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Casada / Vive junto</c:v>
                  </c:pt>
                  <c:pt idx="1">
                    <c:v>Solteira</c:v>
                  </c:pt>
                  <c:pt idx="2">
                    <c:v>Divorciada</c:v>
                  </c:pt>
                  <c:pt idx="3">
                    <c:v>Viúva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21.2</c:v>
                </c:pt>
                <c:pt idx="2">
                  <c:v>3.3</c:v>
                </c:pt>
                <c:pt idx="3">
                  <c:v>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FA8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Praça 1</c:v>
                  </c:pt>
                  <c:pt idx="1">
                    <c:v>Praça 2</c:v>
                  </c:pt>
                  <c:pt idx="2">
                    <c:v>Praça 3</c:v>
                  </c:pt>
                  <c:pt idx="3">
                    <c:v>Praça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24.8</c:v>
                </c:pt>
                <c:pt idx="1">
                  <c:v>24.7</c:v>
                </c:pt>
                <c:pt idx="2">
                  <c:v>25.2</c:v>
                </c:pt>
                <c:pt idx="3">
                  <c:v>25.3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Segmento 1</c:v>
                  </c:pt>
                  <c:pt idx="1">
                    <c:v>Segmento 2</c:v>
                  </c:pt>
                  <c:pt idx="2">
                    <c:v>Segmento 3</c:v>
                  </c:pt>
                  <c:pt idx="3">
                    <c:v>Segmento 4</c:v>
                  </c:pt>
                  <c:pt idx="4">
                    <c:v>Segmento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21.6</c:v>
                </c:pt>
                <c:pt idx="2">
                  <c:v>0.5</c:v>
                </c:pt>
                <c:pt idx="3">
                  <c:v>54.6</c:v>
                </c:pt>
                <c:pt idx="4">
                  <c:v>20.1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972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Classe A</c:v>
                  </c:pt>
                  <c:pt idx="1">
                    <c:v>Classe B</c:v>
                  </c:pt>
                  <c:pt idx="2">
                    <c:v>Classe C</c:v>
                  </c:pt>
                  <c:pt idx="3">
                    <c:v>Classe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33.6</c:v>
                </c:pt>
                <c:pt idx="1">
                  <c:v>27.8</c:v>
                </c:pt>
                <c:pt idx="2">
                  <c:v>26.7</c:v>
                </c:pt>
                <c:pt idx="3">
                  <c:v>17.4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FA8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Praça 1</c:v>
                  </c:pt>
                  <c:pt idx="1">
                    <c:v>Praça 2</c:v>
                  </c:pt>
                  <c:pt idx="2">
                    <c:v>Praça 3</c:v>
                  </c:pt>
                  <c:pt idx="3">
                    <c:v>Praça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17.7</c:v>
                </c:pt>
                <c:pt idx="1">
                  <c:v>19.1</c:v>
                </c:pt>
                <c:pt idx="2">
                  <c:v>23.2</c:v>
                </c:pt>
                <c:pt idx="3">
                  <c:v>41.2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Q27</c:v>
                  </c:pt>
                  <c:pt idx="1">
                    <c:v>Q27A</c:v>
                  </c:pt>
                  <c:pt idx="2">
                    <c:v>Q55</c:v>
                  </c:pt>
                  <c:pt idx="3">
                    <c:v>Q54</c:v>
                  </c:pt>
                  <c:pt idx="4">
                    <c:v>Q5</c:v>
                  </c:pt>
                  <c:pt idx="5">
                    <c:v>POS52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70.8</c:v>
                </c:pt>
                <c:pt idx="1">
                  <c:v>65.8</c:v>
                </c:pt>
                <c:pt idx="2">
                  <c:v>52</c:v>
                </c:pt>
                <c:pt idx="3">
                  <c:v>51.2</c:v>
                </c:pt>
                <c:pt idx="4">
                  <c:v>43.5</c:v>
                </c:pt>
                <c:pt idx="5">
                  <c:v>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FA8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q27a_1</c:v>
                  </c:pt>
                  <c:pt idx="1">
                    <c:v>q27a_2</c:v>
                  </c:pt>
                  <c:pt idx="2">
                    <c:v>q27a_6</c:v>
                  </c:pt>
                  <c:pt idx="3">
                    <c:v>q27a_10</c:v>
                  </c:pt>
                  <c:pt idx="4">
                    <c:v>q27a_20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4.54</c:v>
                </c:pt>
                <c:pt idx="1">
                  <c:v>4.26</c:v>
                </c:pt>
                <c:pt idx="2">
                  <c:v>4.26</c:v>
                </c:pt>
                <c:pt idx="3">
                  <c:v>4.23</c:v>
                </c:pt>
                <c:pt idx="4">
                  <c:v>4.21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q27a_16</c:v>
                  </c:pt>
                  <c:pt idx="1">
                    <c:v>q27a_15</c:v>
                  </c:pt>
                  <c:pt idx="2">
                    <c:v>q27a_26</c:v>
                  </c:pt>
                  <c:pt idx="3">
                    <c:v>q27a_25</c:v>
                  </c:pt>
                  <c:pt idx="4">
                    <c:v>q27a_28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2.28</c:v>
                </c:pt>
                <c:pt idx="1">
                  <c:v>2.72</c:v>
                </c:pt>
                <c:pt idx="2">
                  <c:v>2.74</c:v>
                </c:pt>
                <c:pt idx="3">
                  <c:v>2.86</c:v>
                </c:pt>
                <c:pt idx="4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972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Q61</c:v>
                  </c:pt>
                  <c:pt idx="1">
                    <c:v>Q62E</c:v>
                  </c:pt>
                  <c:pt idx="2">
                    <c:v>Q62J</c:v>
                  </c:pt>
                  <c:pt idx="3">
                    <c:v>Q64</c:v>
                  </c:pt>
                  <c:pt idx="4">
                    <c:v>Q62G</c:v>
                  </c:pt>
                  <c:pt idx="5">
                    <c:v>Q62A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58.8</c:v>
                </c:pt>
                <c:pt idx="2">
                  <c:v>57.1</c:v>
                </c:pt>
                <c:pt idx="3">
                  <c:v>50</c:v>
                </c:pt>
                <c:pt idx="4">
                  <c:v>22.2</c:v>
                </c:pt>
                <c:pt idx="5">
                  <c:v>14.8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194560"/>
            <a:ext cx="6400800" cy="640080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E9724C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MILLWARD BROWN DO BRASIL  ·  2010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Hábitos &amp; Atitudes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Bebê &amp; Criança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Visita — Resultados consolidados do estudo de uso e atitudes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cuidados com bebês e crianças de até 2 anos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57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analisada: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dadMB.csv  ·  n = 3.704 respondentes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 ·  PowerPoint editável  ·  Dashboard HTML  ·  App R Shiny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encontrar neste relatório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122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2112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escopo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base foi tratada e quais são os limites da análise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21122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86600" y="2112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8660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as 3.704 respondentes do estudo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753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575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segmentos identificados na base (clustab)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35753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86600" y="3575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&amp; valor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866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recomendar a marca e percepção de custo-benefício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038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5038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atitude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440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baterias de percepção do produto, em escala 0–100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8920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5038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86600" y="5038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86600" y="5440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acionáveis a partir dos dados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&amp; escopo da análise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base foi tratada e o que isso significa para a leitura dos resultados a seguir.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A8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processado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bruta dadMB.csv (Millward Brown do Brasil, 2010): 3.704 respondentes e 377 variáveis, cobrindo os 4 módulos de questionário da 2ª visita — Banho, Cuidados com Cabelo, Troca de Fraldas e Pós-Banho.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2860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9724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veio junto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26440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original (SPSS) com os rótulos de cada variável e categoria de resposta não foi disponibilizado — apenas os questionários de campo, cuja numeração interna não corresponde 1:1 às colunas da base final.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2860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resolvemos isso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326440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perfil (idade, classe, estado civil, trabalho, alergia, segmento) foram rotuladas com alta confiança a partir dos questionários. Baterias de atitude sem rótulo textual confirmado são reportadas como índices por código de item.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as respondentes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 da base completa (n = 3.704).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  <a:effectLst>
            <a:outerShdw sx="100000" sy="100000" kx="0" ky="0" algn="bl" rotWithShape="0" blurRad="76200" dist="25400" dir="5400000">
              <a:srgbClr val="1D243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85416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3.704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044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na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20574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  <a:effectLst>
            <a:outerShdw sx="100000" sy="100000" kx="0" ky="0" algn="bl" rotWithShape="0" blurRad="76200" dist="25400" dir="5400000">
              <a:srgbClr val="1D243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2185416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 anos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6432" y="3044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da mãe/responsável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20574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  <a:effectLst>
            <a:outerShdw sx="100000" sy="100000" kx="0" ky="0" algn="bl" rotWithShape="0" blurRad="76200" dist="25400" dir="5400000">
              <a:srgbClr val="1D243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2185416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7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27064" y="3044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filho(a) com alergia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0536" y="20574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  <a:effectLst>
            <a:outerShdw sx="100000" sy="100000" kx="0" ky="0" algn="bl" rotWithShape="0" blurRad="76200" dist="25400" dir="5400000">
              <a:srgbClr val="1D243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2185416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97696" y="3044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Recomendariam a marca a uma amiga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por classe social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402336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4008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trabalho</a:t>
            </a:r>
            <a:endParaRPr lang="en-US" sz="13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6217920" y="4023360"/>
          <a:ext cx="5577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AMOSTRA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 etária, estado civil e praça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 da mãe/responsável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286000"/>
          <a:ext cx="41148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4348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civil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251960" y="2286000"/>
          <a:ext cx="38404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2753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/ região da entrevista</a:t>
            </a:r>
            <a:endParaRPr lang="en-US" sz="13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092440" y="2286000"/>
          <a:ext cx="37490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D3557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Alergia do(a) filho(a)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22960" y="51023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16,8% das respondentes relatam que o(a) filho(a) mais novo(a) possui alguma alergia — um ponto relevante para comunicação de segurança e hipoalergenicidade dos produtos.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segmentos identificados na base (clustab)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não trouxe os nomes originais de cada segmento — o perfil abaixo caracteriza cada um a partir dos dados disponíveis.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dos segmentos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28600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comparativo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286000"/>
          <a:ext cx="5852160" cy="27432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A/B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Alergia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&amp; VALOR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recomenda a marca — e onde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respondentes que recomendariam a marca que usam a uma amiga, por corte.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classe social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286000"/>
          <a:ext cx="5212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praça / região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577840" y="2286000"/>
          <a:ext cx="5212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E3D3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4 recomenda 2,3× mais que a Praça 1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(41,2% vs 17,7%), e a Classe A recomenda quase o dobro da Classe D (33,6% vs 17,4%) — mesmo com percepção de custo-benefício semelhante. A percepção média de custo-benefício da marca usada é de 5,6 em uma escala de 1 a 10.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ATITUDE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baterias de percepção do produto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bateria reúne um conjunto de itens em escala Likert 1–5, reexpressos em índice 0–100 (100 = avaliação máxima em todos os itens).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057400"/>
          <a:ext cx="11338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2F0E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= Rotina e cuidados (31 itens)   ·   Q27 / Q27A = Percepção do produto (19 / 29 itens)   ·   POS52 = Satisfação por categoria (17 itens)   ·   Q54 / Q55 = Imagem de marca (15 / 15 itens)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ATITUDE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— Bateria Q27A (percepção do produto)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e bottom 5 itens da bateria com maior base de resposta (n = 3.686), por código de item.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itens (melhor avaliados)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2860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itens (pior avaliados)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577840" y="22860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avaliação: 1 (pior) a 5 (melhor). Códigos de item referem-se às colunas originais de dadMB.csv.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MENÇÕES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Baterias de múltipla escolha (atributos / marcas)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médio de respondentes que mencionaram os itens de cada bateria, excluindo códigos de "não sabe / não aplicável".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057400"/>
          <a:ext cx="11338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2F0E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Q61 aparece com 100% pois sua base válida após exclusão dos códigos de "não sabe" é pequena — interpretar com cautela; ver detalhe em output/mencoes_baterias_itens.csv.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conclusões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12264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208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advocacy geral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048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25,4% das respondentes recomendariam a marca que usam a uma amiga — piso relevante para trabalhar.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2112264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10" name="Text 8"/>
          <p:cNvSpPr/>
          <p:nvPr/>
        </p:nvSpPr>
        <p:spPr>
          <a:xfrm>
            <a:off x="6793992" y="20208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disparidade regional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19672" y="24048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Praça 4 recomenda 2,3× mais que a Praça 1 (41,2% vs 17,7%) — a experiência de marca não é uniforme entre praças.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social pesa na advocacy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390448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 recomenda quase o dobro da Classe D (33,6% vs 17,4%), mesmo com percepções de custo-benefício próximas.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37413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3611880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18" name="Text 16"/>
          <p:cNvSpPr/>
          <p:nvPr/>
        </p:nvSpPr>
        <p:spPr>
          <a:xfrm>
            <a:off x="6793992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força: Percepção do produto (19 itens)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9672" y="390448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Q27 lidera com índice 70,8/100 — ponto a explorar em comunicação.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111496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020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oportunidade: Satisfação por categoria de produto (17 itens)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40410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POS52 tem o menor índice (42/100) — sinaliza gap de satisfação a investigar item a item.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873752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2238"/>
          </a:solidFill>
          <a:ln w="9525">
            <a:solidFill>
              <a:srgbClr val="3A5A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5111496"/>
            <a:ext cx="146304" cy="146304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26" name="Text 24"/>
          <p:cNvSpPr/>
          <p:nvPr/>
        </p:nvSpPr>
        <p:spPr>
          <a:xfrm>
            <a:off x="6793992" y="5020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4 concentra a base, mas não lidera engajamento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19672" y="540410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54,6% da amostra está no Segmento 4, que recomenda menos (25,6%) que o Segmento 2 (27,5%, 21,6% da base).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&amp; Atitudes Bebê &amp; Criança  ·  Base dadMB.csv  ·  n = 3.704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Hábitos &amp; Atitudes Bebê &amp; Criança — 2ª Visita</dc:title>
  <dc:subject>PptxGenJS Presentation</dc:subject>
  <dc:creator>Análise de dados</dc:creator>
  <cp:lastModifiedBy>Análise de dados</cp:lastModifiedBy>
  <cp:revision>1</cp:revision>
  <dcterms:created xsi:type="dcterms:W3CDTF">2026-09-03T17:50:50Z</dcterms:created>
  <dcterms:modified xsi:type="dcterms:W3CDTF">2026-09-03T17:50:50Z</dcterms:modified>
</cp:coreProperties>
</file>